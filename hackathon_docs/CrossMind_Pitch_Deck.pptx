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200" b="1">
                <a:solidFill>
                  <a:srgbClr val="FFFFFF"/>
                </a:solidFill>
              </a:rPr>
              <a:t>CrossMind</a:t>
            </a:r>
          </a:p>
          <a:p>
            <a:pPr>
              <a:spcBef>
                <a:spcPts val="800"/>
              </a:spcBef>
            </a:pPr>
            <a:r>
              <a:rPr sz="2400">
                <a:solidFill>
                  <a:srgbClr val="10B981"/>
                </a:solidFill>
              </a:rPr>
              <a:t>Split inference for sensitive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0"/>
            <a:ext cx="10058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</a:pPr>
            <a:r>
              <a:rPr sz="2000" b="1">
                <a:solidFill>
                  <a:srgbClr val="FFFFFF"/>
                </a:solidFill>
              </a:rPr>
              <a:t>•  The problem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CCCCCC"/>
                </a:solidFill>
              </a:rPr>
              <a:t>    Large organizations need central AI models, but cannot export sensitive text to them. Today they either ban AI or accept full-text risk.</a:t>
            </a:r>
          </a:p>
          <a:p>
            <a:pPr>
              <a:spcBef>
                <a:spcPts val="1400"/>
              </a:spcBef>
            </a:pPr>
            <a:r>
              <a:rPr sz="2000" b="1">
                <a:solidFill>
                  <a:srgbClr val="FFFFFF"/>
                </a:solidFill>
              </a:rPr>
              <a:t>•  The buyer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CCCCCC"/>
                </a:solidFill>
              </a:rPr>
              <a:t>    Hospital-group IT, clinic compliance, enterprise AI leads: anyone blocking raw data export to a central model.</a:t>
            </a:r>
          </a:p>
          <a:p>
            <a:pPr>
              <a:spcBef>
                <a:spcPts val="1400"/>
              </a:spcBef>
            </a:pPr>
            <a:r>
              <a:rPr sz="2000" b="1">
                <a:solidFill>
                  <a:srgbClr val="FFFFFF"/>
                </a:solidFill>
              </a:rPr>
              <a:t>•  Across domains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CCCCCC"/>
                </a:solidFill>
              </a:rPr>
              <a:t>    Healthcare, finance, logistics, legal, industrial. For this hackathon: clinic to hospital.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888899"/>
                </a:solidFill>
              </a:defRPr>
            </a:pPr>
            <a:r>
              <a:t>AI BEAVERS Founder Hackathon  |  House of AI Hamburg  |  June 6,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>
                <a:solidFill>
                  <a:srgbClr val="888899"/>
                </a:solidFill>
              </a:defRPr>
            </a:pPr>
            <a:r>
              <a:t>DEMO - Research prototype only. Not medical advice, diagnosis, or treatment.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How it works: two models, one connection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058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</a:pPr>
            <a:r>
              <a:rPr sz="2000" b="1">
                <a:solidFill>
                  <a:srgbClr val="FFFFFF"/>
                </a:solidFill>
              </a:rPr>
              <a:t>•  Clinic runs Qwen 2.5 locally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CCCCCC"/>
                </a:solidFill>
              </a:rPr>
              <a:t>    Encodes patient text into a numeric vector. The original words never leave the clinic.</a:t>
            </a:r>
          </a:p>
          <a:p>
            <a:pPr>
              <a:spcBef>
                <a:spcPts val="1400"/>
              </a:spcBef>
            </a:pPr>
            <a:r>
              <a:rPr sz="2000" b="1">
                <a:solidFill>
                  <a:srgbClr val="FFFFFF"/>
                </a:solidFill>
              </a:rPr>
              <a:t>•  Hospital runs Llama 3.1 remotely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CCCCCC"/>
                </a:solidFill>
              </a:rPr>
              <a:t>    Receives only numbers (vectors), not your sentence, not your words, not your document.</a:t>
            </a:r>
          </a:p>
          <a:p>
            <a:pPr>
              <a:spcBef>
                <a:spcPts val="1400"/>
              </a:spcBef>
            </a:pPr>
            <a:r>
              <a:rPr sz="2000" b="1">
                <a:solidFill>
                  <a:srgbClr val="FFFFFF"/>
                </a:solidFill>
              </a:rPr>
              <a:t>•  Linear alignment connects them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CCCCCC"/>
                </a:solidFill>
              </a:rPr>
              <a:t>    A trained matrix translates Qwen's internal representation into Llama's space (Gorbett &amp; Jana, 2025).</a:t>
            </a:r>
          </a:p>
          <a:p>
            <a:pPr>
              <a:spcBef>
                <a:spcPts val="1400"/>
              </a:spcBef>
            </a:pPr>
            <a:r>
              <a:rPr sz="2000" b="1">
                <a:solidFill>
                  <a:srgbClr val="FFFFFF"/>
                </a:solidFill>
              </a:rPr>
              <a:t>•  Trained on medical Q&amp;A pairs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CCCCCC"/>
                </a:solidFill>
              </a:rPr>
              <a:t>    The alignment is optimized for clinical domain accuracy.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3949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0B981"/>
                </a:solidFill>
                <a:latin typeface="Courier New"/>
              </a:rPr>
              <a:t>Clinic (Qwen) encodes text into vector  --&gt;  alignment matrix translates it  --&gt;  obfuscated via passphrase  --&gt;  Hospital (Llama) generates from vector  --&gt;  token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>
                <a:solidFill>
                  <a:srgbClr val="888899"/>
                </a:solidFill>
              </a:defRPr>
            </a:pPr>
            <a:r>
              <a:t>DEMO - Research prototype only. Not medical advice, diagnosis, or treatment.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Privacy Layer 1: Sealed (wire obfuscation)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</a:pPr>
            <a:r>
              <a:rPr sz="2000" b="1">
                <a:solidFill>
                  <a:srgbClr val="FFFFFF"/>
                </a:solidFill>
              </a:rPr>
              <a:t>•  Vector-by-vector transmission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CCCCCC"/>
                </a:solidFill>
              </a:rPr>
              <a:t>    Each hidden state travels individually. This adds a structural privacy layer: no full document crosses the wire.</a:t>
            </a:r>
          </a:p>
          <a:p>
            <a:pPr>
              <a:spcBef>
                <a:spcPts val="1400"/>
              </a:spcBef>
            </a:pPr>
            <a:r>
              <a:rPr sz="2000" b="1">
                <a:solidFill>
                  <a:srgbClr val="FFFFFF"/>
                </a:solidFill>
              </a:rPr>
              <a:t>•  Shared passphrase rotates each vector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CCCCCC"/>
                </a:solidFill>
              </a:rPr>
              <a:t>    Before sending, the clinic rotates the vector using a shared secret. The specialist only ever sees rotated numbers.</a:t>
            </a:r>
          </a:p>
          <a:p>
            <a:pPr>
              <a:spcBef>
                <a:spcPts val="1400"/>
              </a:spcBef>
            </a:pPr>
            <a:r>
              <a:rPr sz="2000" b="1">
                <a:solidFill>
                  <a:srgbClr val="FFFFFF"/>
                </a:solidFill>
              </a:rPr>
              <a:t>•  Wrong passphrase = garbled nonsense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CCCCCC"/>
                </a:solidFill>
              </a:rPr>
              <a:t>    Without the matching key, intercepted data is meaningless. See screenshot: mismatched keys produce noise.</a:t>
            </a:r>
          </a:p>
          <a:p>
            <a:pPr>
              <a:spcBef>
                <a:spcPts val="1400"/>
              </a:spcBef>
            </a:pPr>
            <a:r>
              <a:rPr sz="2000" b="1">
                <a:solidFill>
                  <a:srgbClr val="FFFFFF"/>
                </a:solidFill>
              </a:rPr>
              <a:t>•  Protects against passive eavesdroppers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CCCCCC"/>
                </a:solidFill>
              </a:rPr>
              <a:t>    Anyone tapping the network link gets rotated vectors they cannot reverse.</a:t>
            </a:r>
          </a:p>
        </p:txBody>
      </p:sp>
      <p:pic>
        <p:nvPicPr>
          <p:cNvPr id="4" name="Picture 3" descr="3_sealed_incorrect_pass-65f9d005-2d82-4181-b521-64e19af025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011680"/>
            <a:ext cx="5486400" cy="32254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17920" y="539496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EF4444"/>
                </a:solidFill>
              </a:rPr>
              <a:t>Mismatched passphrase: clinic and hospital have different keys.</a:t>
            </a:r>
          </a:p>
          <a:p>
            <a:pPr algn="ctr"/>
            <a:r>
              <a:rPr sz="1100">
                <a:solidFill>
                  <a:srgbClr val="CCCCCC"/>
                </a:solidFill>
              </a:rPr>
              <a:t>Output is garbled. Data stays protected on the wire.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>
                <a:solidFill>
                  <a:srgbClr val="888899"/>
                </a:solidFill>
              </a:defRPr>
            </a:pPr>
            <a:r>
              <a:t>DEMO - Research prototype only. Not medical advice, diagnosis, or treatment.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Privacy Layer 2: HELIX (homomorphic encryption)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</a:pPr>
            <a:r>
              <a:rPr sz="2000" b="1">
                <a:solidFill>
                  <a:srgbClr val="FFFFFF"/>
                </a:solidFill>
              </a:rPr>
              <a:t>•  CKKS homomorphic encryption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CCCCCC"/>
                </a:solidFill>
              </a:rPr>
              <a:t>    The hospital computes on ciphertext. It never sees the plaintext vector at any point.</a:t>
            </a:r>
          </a:p>
          <a:p>
            <a:pPr>
              <a:spcBef>
                <a:spcPts val="1400"/>
              </a:spcBef>
            </a:pPr>
            <a:r>
              <a:rPr sz="2000" b="1">
                <a:solidFill>
                  <a:srgbClr val="FFFFFF"/>
                </a:solidFill>
              </a:rPr>
              <a:t>•  Department routing (5 classes)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CCCCCC"/>
                </a:solidFill>
              </a:rPr>
              <a:t>    Cardiology, Neurology, Oncology, Orthopedics, General Medicine.</a:t>
            </a:r>
          </a:p>
          <a:p>
            <a:pPr>
              <a:spcBef>
                <a:spcPts val="1400"/>
              </a:spcBef>
            </a:pPr>
            <a:r>
              <a:rPr sz="2000" b="1">
                <a:solidFill>
                  <a:srgbClr val="FFFFFF"/>
                </a:solidFill>
              </a:rPr>
              <a:t>•  Hospital never sees the department label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CCCCCC"/>
                </a:solidFill>
              </a:rPr>
              <a:t>    Only the clinic can decrypt the routing result. The hospital is truly blind.</a:t>
            </a:r>
          </a:p>
          <a:p>
            <a:pPr>
              <a:spcBef>
                <a:spcPts val="1400"/>
              </a:spcBef>
            </a:pPr>
            <a:r>
              <a:rPr sz="2000" b="1">
                <a:solidFill>
                  <a:srgbClr val="FFFFFF"/>
                </a:solidFill>
              </a:rPr>
              <a:t>•  ~3.4 seconds per routing request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CCCCCC"/>
                </a:solidFill>
              </a:rPr>
              <a:t>    Homomorphic operations are computationally expensive. Full-vocab generation (128k tokens) is not feasible yet. But a 5-class routing head is practical today.</a:t>
            </a:r>
          </a:p>
        </p:txBody>
      </p:sp>
      <p:pic>
        <p:nvPicPr>
          <p:cNvPr id="4" name="Picture 3" descr="4_helix_routing_encrypt-c0c5322f-4c4c-451d-8ef5-06407fdf1f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011680"/>
            <a:ext cx="5486400" cy="32736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17920" y="539496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10B981"/>
                </a:solidFill>
              </a:rPr>
              <a:t>HELIX routing: crypto verified, department decrypted only by clinic.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>
                <a:solidFill>
                  <a:srgbClr val="888899"/>
                </a:solidFill>
              </a:defRPr>
            </a:pPr>
            <a:r>
              <a:t>DEMO - Research prototype only. Not medical advice, diagnosis, or treatment.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What our privacy layers do and what they don't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0B981"/>
                </a:solidFill>
              </a:rPr>
              <a:t>What it DOES</a:t>
            </a:r>
          </a:p>
          <a:p>
            <a:pPr>
              <a:spcBef>
                <a:spcPts val="1200"/>
              </a:spcBef>
            </a:pPr>
            <a:r>
              <a:rPr sz="1600">
                <a:solidFill>
                  <a:srgbClr val="FFFFFF"/>
                </a:solidFill>
              </a:rPr>
              <a:t>•  Prompt text stays on the local machine</a:t>
            </a:r>
          </a:p>
          <a:p>
            <a:pPr>
              <a:spcBef>
                <a:spcPts val="1200"/>
              </a:spcBef>
            </a:pPr>
            <a:r>
              <a:rPr sz="1600">
                <a:solidFill>
                  <a:srgbClr val="FFFFFF"/>
                </a:solidFill>
              </a:rPr>
              <a:t>•  Wire tap sees only rotated/encrypted vectors</a:t>
            </a:r>
          </a:p>
          <a:p>
            <a:pPr>
              <a:spcBef>
                <a:spcPts val="1200"/>
              </a:spcBef>
            </a:pPr>
            <a:r>
              <a:rPr sz="1600">
                <a:solidFill>
                  <a:srgbClr val="FFFFFF"/>
                </a:solidFill>
              </a:rPr>
              <a:t>•  HELIX: hospital computes without seeing plaintext</a:t>
            </a:r>
          </a:p>
          <a:p>
            <a:pPr>
              <a:spcBef>
                <a:spcPts val="1200"/>
              </a:spcBef>
            </a:pPr>
            <a:r>
              <a:rPr sz="1600">
                <a:solidFill>
                  <a:srgbClr val="FFFFFF"/>
                </a:solidFill>
              </a:rPr>
              <a:t>•  Department label decrypted only by clinic</a:t>
            </a:r>
          </a:p>
          <a:p>
            <a:pPr>
              <a:spcBef>
                <a:spcPts val="1200"/>
              </a:spcBef>
            </a:pPr>
            <a:r>
              <a:rPr sz="1600">
                <a:solidFill>
                  <a:srgbClr val="FFFFFF"/>
                </a:solidFill>
              </a:rPr>
              <a:t>•  Data minimization: no full-text export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201168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59E0B"/>
                </a:solidFill>
              </a:rPr>
              <a:t>What it does NOT (yet)</a:t>
            </a:r>
          </a:p>
          <a:p>
            <a:pPr>
              <a:spcBef>
                <a:spcPts val="1200"/>
              </a:spcBef>
            </a:pPr>
            <a:r>
              <a:rPr sz="1600">
                <a:solidFill>
                  <a:srgbClr val="CCCCCC"/>
                </a:solidFill>
              </a:rPr>
              <a:t>•  Full encrypted generation (too expensive to compute at vocab scale today)</a:t>
            </a:r>
          </a:p>
          <a:p>
            <a:pPr>
              <a:spcBef>
                <a:spcPts val="1200"/>
              </a:spcBef>
            </a:pPr>
            <a:r>
              <a:rPr sz="1600">
                <a:solidFill>
                  <a:srgbClr val="CCCCCC"/>
                </a:solidFill>
              </a:rPr>
              <a:t>•  Sealed generation still requires hospital-side decrypt per token</a:t>
            </a:r>
          </a:p>
          <a:p>
            <a:pPr>
              <a:spcBef>
                <a:spcPts val="1200"/>
              </a:spcBef>
            </a:pPr>
            <a:r>
              <a:rPr sz="1600">
                <a:solidFill>
                  <a:srgbClr val="CCCCCC"/>
                </a:solidFill>
              </a:rPr>
              <a:t>•  HIPAA/GDPR compliance certification</a:t>
            </a:r>
          </a:p>
          <a:p>
            <a:pPr>
              <a:spcBef>
                <a:spcPts val="1200"/>
              </a:spcBef>
            </a:pPr>
            <a:r>
              <a:rPr sz="1600">
                <a:solidFill>
                  <a:srgbClr val="CCCCCC"/>
                </a:solidFill>
              </a:rPr>
              <a:t>•  Guarantee hospital learns nothing from vectors alone</a:t>
            </a:r>
          </a:p>
          <a:p>
            <a:pPr>
              <a:spcBef>
                <a:spcPts val="1200"/>
              </a:spcBef>
            </a:pPr>
            <a:r>
              <a:rPr sz="1600">
                <a:solidFill>
                  <a:srgbClr val="CCCCCC"/>
                </a:solidFill>
              </a:rPr>
              <a:t>•  Clinical-grade diagnosis or medical advice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>
                <a:solidFill>
                  <a:srgbClr val="888899"/>
                </a:solidFill>
              </a:defRPr>
            </a:pPr>
            <a:r>
              <a:t>DEMO - Research prototype only. Not medical advice, diagnosis, or treatment.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Live demo: Clinic and Hospital connected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Working end-to-end: </a:t>
            </a:r>
            <a:r>
              <a:rPr sz="1500">
                <a:solidFill>
                  <a:srgbClr val="10B981"/>
                </a:solidFill>
              </a:rPr>
              <a:t>Clinic encodes locally (alignment cosine ~0.83) </a:t>
            </a:r>
            <a:r>
              <a:rPr sz="1500">
                <a:solidFill>
                  <a:srgbClr val="FFFFFF"/>
                </a:solidFill>
              </a:rPr>
              <a:t>| </a:t>
            </a:r>
            <a:r>
              <a:rPr sz="1500">
                <a:solidFill>
                  <a:srgbClr val="10B981"/>
                </a:solidFill>
              </a:rPr>
              <a:t>Hospital routes via HELIX (~83% accuracy, ~3.4s) </a:t>
            </a:r>
            <a:r>
              <a:rPr sz="1500">
                <a:solidFill>
                  <a:srgbClr val="FFFFFF"/>
                </a:solidFill>
              </a:rPr>
              <a:t>| </a:t>
            </a:r>
            <a:r>
              <a:rPr sz="1500">
                <a:solidFill>
                  <a:srgbClr val="10B981"/>
                </a:solidFill>
              </a:rPr>
              <a:t>Sealed generation streams in real-time</a:t>
            </a:r>
          </a:p>
        </p:txBody>
      </p:sp>
      <p:pic>
        <p:nvPicPr>
          <p:cNvPr id="4" name="Picture 3" descr="2_sealed_with_pass-1d582270-e737-4d46-9f4e-3c3e75c836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560320"/>
            <a:ext cx="5760720" cy="3437305"/>
          </a:xfrm>
          <a:prstGeom prst="rect">
            <a:avLst/>
          </a:prstGeom>
        </p:spPr>
      </p:pic>
      <p:pic>
        <p:nvPicPr>
          <p:cNvPr id="5" name="Picture 4" descr="4_helix_routing_encrypt-c0c5322f-4c4c-451d-8ef5-06407fdf1fa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560320"/>
            <a:ext cx="5760720" cy="34373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5852160"/>
            <a:ext cx="5760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CCCCCC"/>
                </a:solidFill>
              </a:rPr>
              <a:t>Sealed mode: vectors streaming, passphrase matched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5852160"/>
            <a:ext cx="5760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CCCCCC"/>
                </a:solidFill>
              </a:rPr>
              <a:t>HELIX mode: encrypted routing, department decrypted by clinic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>
                <a:solidFill>
                  <a:srgbClr val="888899"/>
                </a:solidFill>
              </a:defRPr>
            </a:pPr>
            <a:r>
              <a:t>DEMO - Research prototype only. Not medical advice, diagnosis, or treatment.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What is to 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058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</a:pPr>
            <a:r>
              <a:rPr sz="2000" b="1">
                <a:solidFill>
                  <a:srgbClr val="FFFFFF"/>
                </a:solidFill>
              </a:rPr>
              <a:t>•  Upload documents (PDF, TXT)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CCCCCC"/>
                </a:solidFill>
              </a:rPr>
              <a:t>    Send encrypted document vectors for specialist analysis without exposing content.</a:t>
            </a:r>
          </a:p>
          <a:p>
            <a:pPr>
              <a:spcBef>
                <a:spcPts val="1400"/>
              </a:spcBef>
            </a:pPr>
            <a:r>
              <a:rPr sz="2000" b="1">
                <a:solidFill>
                  <a:srgbClr val="FFFFFF"/>
                </a:solidFill>
              </a:rPr>
              <a:t>•  Upload images and reports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CCCCCC"/>
                </a:solidFill>
              </a:rPr>
              <a:t>    Medical imaging, lab reports: encoded locally, routed or analyzed remotely via encrypted vectors.</a:t>
            </a:r>
          </a:p>
          <a:p>
            <a:pPr>
              <a:spcBef>
                <a:spcPts val="1400"/>
              </a:spcBef>
            </a:pPr>
            <a:r>
              <a:rPr sz="2000" b="1">
                <a:solidFill>
                  <a:srgbClr val="FFFFFF"/>
                </a:solidFill>
              </a:rPr>
              <a:t>•  Multi-modal encrypted routing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CCCCCC"/>
                </a:solidFill>
              </a:rPr>
              <a:t>    Same HELIX pattern extended to richer inputs for better clinical results.</a:t>
            </a:r>
          </a:p>
          <a:p>
            <a:pPr>
              <a:spcBef>
                <a:spcPts val="1400"/>
              </a:spcBef>
            </a:pPr>
            <a:r>
              <a:rPr sz="2000" b="1">
                <a:solidFill>
                  <a:srgbClr val="FFFFFF"/>
                </a:solidFill>
              </a:rPr>
              <a:t>•  Domain-agnostic infrastructure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CCCCCC"/>
                </a:solidFill>
              </a:rPr>
              <a:t>    Finance, logistics, legal, industrial: wherever sensitive data needs central AI without full-text export.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1206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7C3AED"/>
                </a:solidFill>
              </a:rPr>
              <a:t>Thank you</a:t>
            </a:r>
          </a:p>
          <a:p>
            <a:pPr>
              <a:spcBef>
                <a:spcPts val="1200"/>
              </a:spcBef>
            </a:pPr>
            <a:r>
              <a:rPr sz="1200">
                <a:solidFill>
                  <a:srgbClr val="888899"/>
                </a:solidFill>
              </a:rPr>
              <a:t>Reference: Gorbett, T., &amp; Jana, S. (2025). Characterizing Linear Alignment Across Language Models. arXiv:2603.18908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888899"/>
                </a:solidFill>
              </a:rPr>
              <a:t>AI BEAVERS Founder Hackathon  |  House of AI Hamburg  |  June 6,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>
                <a:solidFill>
                  <a:srgbClr val="888899"/>
                </a:solidFill>
              </a:defRPr>
            </a:pPr>
            <a:r>
              <a:t>DEMO - Research prototype only. Not medical advice, diagnosis, or treatment.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